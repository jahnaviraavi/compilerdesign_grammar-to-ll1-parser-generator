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65" r:id="rId15"/>
    <p:sldId id="266" r:id="rId16"/>
  </p:sldIdLst>
  <p:sldSz cx="18288000" cy="10287000"/>
  <p:notesSz cx="6858000" cy="9144000"/>
  <p:embeddedFontLst>
    <p:embeddedFont>
      <p:font typeface="Hahmlet Bold" panose="020B0604020202020204" charset="-127"/>
      <p:regular r:id="rId17"/>
    </p:embeddedFont>
    <p:embeddedFont>
      <p:font typeface="Open Sans" panose="020B0606030504020204" pitchFamily="34" charset="0"/>
      <p:regular r:id="rId18"/>
    </p:embeddedFont>
    <p:embeddedFont>
      <p:font typeface="Open Sans Bold" panose="020B0806030504020204" charset="0"/>
      <p:regular r:id="rId19"/>
    </p:embeddedFont>
    <p:embeddedFont>
      <p:font typeface="The Youngest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85550" y="7854252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77708" y="1028700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287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2019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932900" y="4239902"/>
            <a:ext cx="11611900" cy="6047098"/>
            <a:chOff x="0" y="0"/>
            <a:chExt cx="2335724" cy="11466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35724" cy="1146677"/>
            </a:xfrm>
            <a:custGeom>
              <a:avLst/>
              <a:gdLst/>
              <a:ahLst/>
              <a:cxnLst/>
              <a:rect l="l" t="t" r="r" b="b"/>
              <a:pathLst>
                <a:path w="2335724" h="1146677">
                  <a:moveTo>
                    <a:pt x="53673" y="0"/>
                  </a:moveTo>
                  <a:lnTo>
                    <a:pt x="2282051" y="0"/>
                  </a:lnTo>
                  <a:cubicBezTo>
                    <a:pt x="2311693" y="0"/>
                    <a:pt x="2335724" y="24030"/>
                    <a:pt x="2335724" y="53673"/>
                  </a:cubicBezTo>
                  <a:lnTo>
                    <a:pt x="2335724" y="1093004"/>
                  </a:lnTo>
                  <a:cubicBezTo>
                    <a:pt x="2335724" y="1122647"/>
                    <a:pt x="2311693" y="1146677"/>
                    <a:pt x="2282051" y="1146677"/>
                  </a:cubicBezTo>
                  <a:lnTo>
                    <a:pt x="53673" y="1146677"/>
                  </a:lnTo>
                  <a:cubicBezTo>
                    <a:pt x="24030" y="1146677"/>
                    <a:pt x="0" y="1122647"/>
                    <a:pt x="0" y="1093004"/>
                  </a:cubicBezTo>
                  <a:lnTo>
                    <a:pt x="0" y="53673"/>
                  </a:lnTo>
                  <a:cubicBezTo>
                    <a:pt x="0" y="24030"/>
                    <a:pt x="24030" y="0"/>
                    <a:pt x="53673" y="0"/>
                  </a:cubicBezTo>
                  <a:close/>
                </a:path>
              </a:pathLst>
            </a:custGeom>
            <a:solidFill>
              <a:srgbClr val="EAEAEA"/>
            </a:solidFill>
            <a:ln w="38100" cap="rnd">
              <a:solidFill>
                <a:srgbClr val="282828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2335724" cy="12133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SriHansika Saraf — 2420030556</a:t>
              </a:r>
            </a:p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Thirumala Reddy Sagar Mounitha — 2420030330</a:t>
              </a:r>
            </a:p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Raavi Jahnavi — 2420030173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12371" y="6940043"/>
            <a:ext cx="521713" cy="52171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640908" y="1183788"/>
            <a:ext cx="12560992" cy="282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53"/>
              </a:lnSpc>
            </a:pPr>
            <a:r>
              <a:rPr lang="en-US" sz="8109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Grammar to LL(1) Parser Generator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6953915" y="2989837"/>
            <a:ext cx="521713" cy="52171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300224" y="8420100"/>
            <a:ext cx="5909220" cy="11449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Guide: Ms. E Uma Shankari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 Department of CSE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11379" y="4897710"/>
            <a:ext cx="5486910" cy="513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9"/>
              </a:lnSpc>
              <a:spcBef>
                <a:spcPct val="0"/>
              </a:spcBef>
            </a:pPr>
            <a:r>
              <a:rPr lang="en-US" sz="3014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24CS2235F | A.Y.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01404" y="1793190"/>
            <a:ext cx="9885192" cy="1724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12"/>
              </a:lnSpc>
            </a:pPr>
            <a:r>
              <a:rPr lang="en-US" sz="10080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Background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68730" y="3909392"/>
            <a:ext cx="12550539" cy="4170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36"/>
              </a:lnSpc>
            </a:pPr>
            <a:r>
              <a:rPr lang="en-US" sz="2954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A Context-Free Grammar (CFG) is used to describe the syntax of a programming language. Converting a CFG into an LL(1) parser requires several manual steps such as grammar transformation, FIRST and FOLLOW computation, and parsing-table construction.</a:t>
            </a:r>
          </a:p>
          <a:p>
            <a:pPr>
              <a:lnSpc>
                <a:spcPts val="4136"/>
              </a:lnSpc>
            </a:pPr>
            <a:endParaRPr lang="en-US" sz="2954" dirty="0">
              <a:solidFill>
                <a:srgbClr val="282828"/>
              </a:solidFill>
              <a:latin typeface="The Youngest"/>
              <a:ea typeface="The Youngest"/>
              <a:cs typeface="The Youngest"/>
              <a:sym typeface="The Youngest"/>
            </a:endParaRPr>
          </a:p>
          <a:p>
            <a:pPr>
              <a:lnSpc>
                <a:spcPts val="4136"/>
              </a:lnSpc>
            </a:pPr>
            <a:r>
              <a:rPr lang="en-US" sz="2954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Our project develops a web-based LL(1) Parser Generator that automates these operations and presents the parsing process interactively.</a:t>
            </a:r>
          </a:p>
          <a:p>
            <a:pPr algn="ctr">
              <a:lnSpc>
                <a:spcPts val="4136"/>
              </a:lnSpc>
            </a:pPr>
            <a:endParaRPr lang="en-US" sz="2954" dirty="0">
              <a:solidFill>
                <a:srgbClr val="282828"/>
              </a:solidFill>
              <a:latin typeface="The Youngest"/>
              <a:ea typeface="The Youngest"/>
              <a:cs typeface="The Youngest"/>
              <a:sym typeface="The Youngest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1028700" y="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201900" y="80262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67843" y="8997443"/>
            <a:ext cx="521713" cy="52171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40531" y="509931"/>
            <a:ext cx="1037538" cy="103753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406152" y="8098398"/>
            <a:ext cx="13475693" cy="1039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Main Idea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CFG → Grammar Transformation → FIRST/FOLLOW → LL(1) Table → Parsing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1832" y="838200"/>
            <a:ext cx="9885192" cy="1724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12"/>
              </a:lnSpc>
            </a:pPr>
            <a:r>
              <a:rPr lang="en-US" sz="10080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Project Goals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56671" y="3331598"/>
            <a:ext cx="2044733" cy="13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78"/>
              </a:lnSpc>
            </a:pPr>
            <a:r>
              <a:rPr lang="en-US" sz="7913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01.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87098" y="6428423"/>
            <a:ext cx="2044733" cy="13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78"/>
              </a:lnSpc>
            </a:pPr>
            <a:r>
              <a:rPr lang="en-US" sz="7913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02.</a:t>
            </a:r>
          </a:p>
        </p:txBody>
      </p:sp>
      <p:sp>
        <p:nvSpPr>
          <p:cNvPr id="5" name="Freeform 5"/>
          <p:cNvSpPr/>
          <p:nvPr/>
        </p:nvSpPr>
        <p:spPr>
          <a:xfrm>
            <a:off x="15237746" y="1028700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797921" y="2682178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145164" y="8235430"/>
            <a:ext cx="3066600" cy="306660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201404" y="4587736"/>
            <a:ext cx="7701841" cy="2072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Develop a web-based system that: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Accepts a Context-Free Grammar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Eliminates left recursion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Performs left factoring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Computes FIRST and FOLLOW sets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01404" y="3770948"/>
            <a:ext cx="6032302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Automate Parser Generation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01404" y="6926123"/>
            <a:ext cx="5536307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Demonstrate LL(1) Parsing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01404" y="7747179"/>
            <a:ext cx="7036396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Generate the LL(1) parsing table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Detect parsing conflicts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Process a user-provided input string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Display whether the input is Accepted or Rejected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7089" y="82296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66094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622612" y="1622700"/>
            <a:ext cx="521713" cy="52171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350054" y="9258300"/>
            <a:ext cx="2909246" cy="290924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3617963"/>
            <a:ext cx="11245155" cy="5595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Grammar Input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 User enters the Context-Free Grammar.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Grammar Transformation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 Left recursion is eliminated and left factoring is performed.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FIRST &amp; FOLLOW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 The system computes the required sets.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 LL(1) Table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 The parsing table is generated and checked for conflicts.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 Predictive Parsing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 The input string is parsed using the generated table.</a:t>
            </a:r>
          </a:p>
        </p:txBody>
      </p:sp>
      <p:sp>
        <p:nvSpPr>
          <p:cNvPr id="11" name="Freeform 11"/>
          <p:cNvSpPr/>
          <p:nvPr/>
        </p:nvSpPr>
        <p:spPr>
          <a:xfrm>
            <a:off x="12273855" y="3278113"/>
            <a:ext cx="6014145" cy="5370897"/>
          </a:xfrm>
          <a:custGeom>
            <a:avLst/>
            <a:gdLst/>
            <a:ahLst/>
            <a:cxnLst/>
            <a:rect l="l" t="t" r="r" b="b"/>
            <a:pathLst>
              <a:path w="6014145" h="5370897">
                <a:moveTo>
                  <a:pt x="0" y="0"/>
                </a:moveTo>
                <a:lnTo>
                  <a:pt x="6014145" y="0"/>
                </a:lnTo>
                <a:lnTo>
                  <a:pt x="6014145" y="5370897"/>
                </a:lnTo>
                <a:lnTo>
                  <a:pt x="0" y="53708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010" b="-35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112614" y="665049"/>
            <a:ext cx="9885192" cy="1724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12"/>
              </a:lnSpc>
            </a:pPr>
            <a:r>
              <a:rPr lang="en-US" sz="10080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Methodology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49658" y="854856"/>
            <a:ext cx="14086596" cy="138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13"/>
              </a:lnSpc>
            </a:pPr>
            <a:r>
              <a:rPr lang="en-US" sz="8080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Grammar Transformation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-2309782" y="1883556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1" y="0"/>
                </a:lnTo>
                <a:lnTo>
                  <a:pt x="5595841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638342" y="8403444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7"/>
                </a:lnTo>
                <a:lnTo>
                  <a:pt x="0" y="1404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848180" y="-1136882"/>
            <a:ext cx="2153663" cy="21536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7843" y="6084611"/>
            <a:ext cx="521713" cy="52171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67843" y="3452278"/>
            <a:ext cx="15968410" cy="6222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Left Recursion</a:t>
            </a:r>
          </a:p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Input:</a:t>
            </a:r>
          </a:p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E → E + T | T</a:t>
            </a:r>
          </a:p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After elimination:</a:t>
            </a:r>
          </a:p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E  → T E'</a:t>
            </a:r>
          </a:p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E' → + T E' | ε</a:t>
            </a:r>
          </a:p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Left factoring is then applied when productions contain common prefixes.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2434191" y="3759272"/>
          <a:ext cx="13419618" cy="4425328"/>
        </p:xfrm>
        <a:graphic>
          <a:graphicData uri="http://schemas.openxmlformats.org/drawingml/2006/table">
            <a:tbl>
              <a:tblPr/>
              <a:tblGrid>
                <a:gridCol w="6136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1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1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4347">
                <a:tc>
                  <a:txBody>
                    <a:bodyPr/>
                    <a:lstStyle/>
                    <a:p>
                      <a:pPr algn="ctr">
                        <a:lnSpc>
                          <a:spcPts val="3403"/>
                        </a:lnSpc>
                        <a:defRPr/>
                      </a:pPr>
                      <a:r>
                        <a:rPr lang="en-US" sz="2430">
                          <a:solidFill>
                            <a:srgbClr val="FFFFFF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Non-Terminal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03"/>
                        </a:lnSpc>
                        <a:defRPr/>
                      </a:pPr>
                      <a:r>
                        <a:rPr lang="en-US" sz="2430">
                          <a:solidFill>
                            <a:srgbClr val="FFFFFF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FIRST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03"/>
                        </a:lnSpc>
                        <a:defRPr/>
                      </a:pPr>
                      <a:r>
                        <a:rPr lang="en-US" sz="2430">
                          <a:solidFill>
                            <a:srgbClr val="FFFFFF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FOLLOW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0327">
                <a:tc>
                  <a:txBody>
                    <a:bodyPr/>
                    <a:lstStyle/>
                    <a:p>
                      <a:pPr algn="ctr">
                        <a:lnSpc>
                          <a:spcPts val="5852"/>
                        </a:lnSpc>
                        <a:defRPr/>
                      </a:pPr>
                      <a:r>
                        <a:rPr lang="en-US" sz="4180">
                          <a:solidFill>
                            <a:srgbClr val="282828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E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defRPr/>
                      </a:pPr>
                      <a:r>
                        <a:rPr lang="en-US" sz="4100">
                          <a:solidFill>
                            <a:srgbClr val="000000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{ id }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defRPr/>
                      </a:pPr>
                      <a:r>
                        <a:rPr lang="en-US" sz="4100">
                          <a:solidFill>
                            <a:srgbClr val="000000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{ $ }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0327">
                <a:tc>
                  <a:txBody>
                    <a:bodyPr/>
                    <a:lstStyle/>
                    <a:p>
                      <a:pPr algn="ctr">
                        <a:lnSpc>
                          <a:spcPts val="5852"/>
                        </a:lnSpc>
                        <a:defRPr/>
                      </a:pPr>
                      <a:r>
                        <a:rPr lang="en-US" sz="4180">
                          <a:solidFill>
                            <a:srgbClr val="282828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E'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defRPr/>
                      </a:pPr>
                      <a:r>
                        <a:rPr lang="en-US" sz="4100">
                          <a:solidFill>
                            <a:srgbClr val="000000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{ +, ε }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defRPr/>
                      </a:pPr>
                      <a:r>
                        <a:rPr lang="en-US" sz="4100">
                          <a:solidFill>
                            <a:srgbClr val="000000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{ $ }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0327">
                <a:tc>
                  <a:txBody>
                    <a:bodyPr/>
                    <a:lstStyle/>
                    <a:p>
                      <a:pPr algn="ctr">
                        <a:lnSpc>
                          <a:spcPts val="5852"/>
                        </a:lnSpc>
                        <a:defRPr/>
                      </a:pPr>
                      <a:r>
                        <a:rPr lang="en-US" sz="4180">
                          <a:solidFill>
                            <a:srgbClr val="282828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T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defRPr/>
                      </a:pPr>
                      <a:r>
                        <a:rPr lang="en-US" sz="4100">
                          <a:solidFill>
                            <a:srgbClr val="000000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{ id }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defRPr/>
                      </a:pPr>
                      <a:r>
                        <a:rPr lang="en-US" sz="4100">
                          <a:solidFill>
                            <a:srgbClr val="000000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{ +, $ }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3893321" y="781357"/>
            <a:ext cx="9885192" cy="24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3"/>
              </a:lnSpc>
            </a:pPr>
            <a:r>
              <a:rPr lang="en-US" sz="7080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FIRST &amp; FOLLOW Computation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-1028700" y="82296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230600" y="27913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80455" y="480455"/>
            <a:ext cx="1096490" cy="109649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998443" y="8997443"/>
            <a:ext cx="521713" cy="52171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434191" y="8548370"/>
            <a:ext cx="13796409" cy="136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FIRST </a:t>
            </a:r>
            <a:r>
              <a:rPr lang="en-US" sz="25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determines the terminals that can begin a derivation.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FOLLOW</a:t>
            </a:r>
            <a:r>
              <a:rPr lang="en-US" sz="25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 determines the terminals that can appear immediately after a non-terminal.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The system automatically computes these sets as part of LL(1) parser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073" y="885066"/>
            <a:ext cx="17933853" cy="1451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72"/>
              </a:lnSpc>
            </a:pPr>
            <a:r>
              <a:rPr lang="en-US" sz="8480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LL(1) Parser Construction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82394" y="6981823"/>
            <a:ext cx="2630155" cy="227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FIRST</a:t>
            </a:r>
          </a:p>
          <a:p>
            <a:pPr algn="ctr">
              <a:lnSpc>
                <a:spcPts val="3674"/>
              </a:lnSpc>
            </a:pPr>
            <a:r>
              <a:rPr lang="en-US" sz="2624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Determines possible starting terminals.</a:t>
            </a:r>
          </a:p>
          <a:p>
            <a:pPr algn="ctr">
              <a:lnSpc>
                <a:spcPts val="3674"/>
              </a:lnSpc>
            </a:pPr>
            <a:endParaRPr lang="en-US" sz="2624">
              <a:solidFill>
                <a:srgbClr val="282828"/>
              </a:solidFill>
              <a:latin typeface="The Youngest"/>
              <a:ea typeface="The Youngest"/>
              <a:cs typeface="The Youngest"/>
              <a:sym typeface="The Youngest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927927" y="4233652"/>
            <a:ext cx="2201439" cy="220143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2828">
                <a:alpha val="20784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2725" tIns="52725" rIns="52725" bIns="52725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344744" y="4709150"/>
            <a:ext cx="1367804" cy="1117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48"/>
              </a:lnSpc>
            </a:pPr>
            <a:r>
              <a:rPr lang="en-US" sz="6463" b="1">
                <a:solidFill>
                  <a:srgbClr val="FFFFFF"/>
                </a:solidFill>
                <a:latin typeface="Hahmlet Bold"/>
                <a:ea typeface="Hahmlet Bold"/>
                <a:cs typeface="Hahmlet Bold"/>
                <a:sym typeface="Hahmlet Bold"/>
              </a:rPr>
              <a:t>01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841560" y="4052214"/>
            <a:ext cx="2564316" cy="256431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2828">
                <a:alpha val="48627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63304" tIns="63304" rIns="63304" bIns="63304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327084" y="4618547"/>
            <a:ext cx="1593268" cy="128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39"/>
              </a:lnSpc>
            </a:pPr>
            <a:r>
              <a:rPr lang="en-US" sz="7528" b="1">
                <a:solidFill>
                  <a:srgbClr val="FFFFFF"/>
                </a:solidFill>
                <a:latin typeface="Hahmlet Bold"/>
                <a:ea typeface="Hahmlet Bold"/>
                <a:cs typeface="Hahmlet Bold"/>
                <a:sym typeface="Hahmlet Bold"/>
              </a:rPr>
              <a:t>02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118071" y="3801505"/>
            <a:ext cx="3065734" cy="306573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2828">
                <a:alpha val="7098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5683" tIns="75683" rIns="75683" bIns="75683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698532" y="4468415"/>
            <a:ext cx="1904810" cy="1550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 b="1">
                <a:solidFill>
                  <a:srgbClr val="FFFFFF"/>
                </a:solidFill>
                <a:latin typeface="Hahmlet Bold"/>
                <a:ea typeface="Hahmlet Bold"/>
                <a:cs typeface="Hahmlet Bold"/>
                <a:sym typeface="Hahmlet Bold"/>
              </a:rPr>
              <a:t>03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790361" y="3549516"/>
            <a:ext cx="3569712" cy="356971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2828">
                <a:alpha val="89804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88124" tIns="88124" rIns="88124" bIns="88124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466246" y="4346285"/>
            <a:ext cx="2217943" cy="178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72"/>
              </a:lnSpc>
            </a:pPr>
            <a:r>
              <a:rPr lang="en-US" sz="10480" b="1">
                <a:solidFill>
                  <a:srgbClr val="FFFFFF"/>
                </a:solidFill>
                <a:latin typeface="Hahmlet Bold"/>
                <a:ea typeface="Hahmlet Bold"/>
                <a:cs typeface="Hahmlet Bold"/>
                <a:sym typeface="Hahmlet Bold"/>
              </a:rPr>
              <a:t>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841560" y="7052553"/>
            <a:ext cx="2602510" cy="2378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4"/>
              </a:lnSpc>
            </a:pPr>
            <a:r>
              <a:rPr lang="en-US" sz="2724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FOLLOW</a:t>
            </a:r>
          </a:p>
          <a:p>
            <a:pPr algn="ctr">
              <a:lnSpc>
                <a:spcPts val="3814"/>
              </a:lnSpc>
            </a:pPr>
            <a:r>
              <a:rPr lang="en-US" sz="2724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Determines valid symbols after non-terminals.</a:t>
            </a:r>
          </a:p>
          <a:p>
            <a:pPr algn="ctr">
              <a:lnSpc>
                <a:spcPts val="3814"/>
              </a:lnSpc>
            </a:pPr>
            <a:endParaRPr lang="en-US" sz="2724">
              <a:solidFill>
                <a:srgbClr val="282828"/>
              </a:solidFill>
              <a:latin typeface="The Youngest"/>
              <a:ea typeface="The Youngest"/>
              <a:cs typeface="The Youngest"/>
              <a:sym typeface="The Younges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514775" y="7062078"/>
            <a:ext cx="3270873" cy="246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4"/>
              </a:lnSpc>
            </a:pPr>
            <a:r>
              <a:rPr lang="en-US" sz="2824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Parsing Table</a:t>
            </a:r>
          </a:p>
          <a:p>
            <a:pPr algn="ctr">
              <a:lnSpc>
                <a:spcPts val="3954"/>
              </a:lnSpc>
            </a:pPr>
            <a:r>
              <a:rPr lang="en-US" sz="2824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Uses FIRST and FOLLOW to select productions.</a:t>
            </a:r>
          </a:p>
          <a:p>
            <a:pPr algn="ctr">
              <a:lnSpc>
                <a:spcPts val="3954"/>
              </a:lnSpc>
            </a:pPr>
            <a:endParaRPr lang="en-US" sz="2824">
              <a:solidFill>
                <a:srgbClr val="282828"/>
              </a:solidFill>
              <a:latin typeface="The Youngest"/>
              <a:ea typeface="The Youngest"/>
              <a:cs typeface="The Youngest"/>
              <a:sym typeface="The Younges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785648" y="7062078"/>
            <a:ext cx="3579616" cy="2554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4"/>
              </a:lnSpc>
            </a:pPr>
            <a:r>
              <a:rPr lang="en-US" sz="2924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Predictive Parsing</a:t>
            </a:r>
          </a:p>
          <a:p>
            <a:pPr algn="ctr">
              <a:lnSpc>
                <a:spcPts val="4094"/>
              </a:lnSpc>
            </a:pPr>
            <a:r>
              <a:rPr lang="en-US" sz="2924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Processes the input string and produces the final result.</a:t>
            </a:r>
          </a:p>
          <a:p>
            <a:pPr algn="ctr">
              <a:lnSpc>
                <a:spcPts val="4094"/>
              </a:lnSpc>
            </a:pPr>
            <a:endParaRPr lang="en-US" sz="2924">
              <a:solidFill>
                <a:srgbClr val="282828"/>
              </a:solidFill>
              <a:latin typeface="The Youngest"/>
              <a:ea typeface="The Youngest"/>
              <a:cs typeface="The Youngest"/>
              <a:sym typeface="The Youngest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15237746" y="8274344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7"/>
                </a:lnTo>
                <a:lnTo>
                  <a:pt x="0" y="1404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-2280263" y="2401660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-983234" y="8516994"/>
            <a:ext cx="3001785" cy="3001785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294552" y="-665251"/>
            <a:ext cx="3001785" cy="3001785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01404" y="413607"/>
            <a:ext cx="9885192" cy="1724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12"/>
              </a:lnSpc>
            </a:pPr>
            <a:r>
              <a:rPr lang="en-US" sz="10080" b="1" dirty="0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Analysis</a:t>
            </a:r>
          </a:p>
        </p:txBody>
      </p:sp>
      <p:sp>
        <p:nvSpPr>
          <p:cNvPr id="3" name="Freeform 3"/>
          <p:cNvSpPr/>
          <p:nvPr/>
        </p:nvSpPr>
        <p:spPr>
          <a:xfrm>
            <a:off x="-10287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470951" y="743922"/>
            <a:ext cx="887247" cy="88724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64643" y="1866900"/>
            <a:ext cx="17259300" cy="731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endParaRPr dirty="0"/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3799" b="1" dirty="0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Grammar Analysis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The input CFG is analyzed and transformed to remove structures that prevent predictive parsing.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r>
              <a:rPr lang="en-US" sz="3799" b="1" dirty="0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Set Computation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FIRST and FOLLOW sets are calculated for the transformed grammar.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3799" b="1" dirty="0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Conflict Analysis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The generated LL(1) table is checked for conflicting entries.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3799" b="1" dirty="0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Parsing Analysis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The parser uses the table and stack operations to process the input string step-by-step.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01404" y="1531253"/>
            <a:ext cx="9885192" cy="1724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12"/>
              </a:lnSpc>
            </a:pPr>
            <a:r>
              <a:rPr lang="en-US" sz="10080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Result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52600" y="4957022"/>
            <a:ext cx="6180144" cy="3559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7"/>
              </a:lnSpc>
            </a:pPr>
            <a:endParaRPr dirty="0"/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Transformed Grammar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FIRST Sets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FOLLOW Sets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LL(1) Parsing Table</a:t>
            </a:r>
          </a:p>
          <a:p>
            <a:pPr algn="l">
              <a:lnSpc>
                <a:spcPts val="4927"/>
              </a:lnSpc>
            </a:pPr>
            <a:endParaRPr lang="en-US" sz="3519" dirty="0">
              <a:solidFill>
                <a:srgbClr val="282828"/>
              </a:solidFill>
              <a:latin typeface="The Youngest"/>
              <a:ea typeface="The Youngest"/>
              <a:cs typeface="The Youngest"/>
              <a:sym typeface="The Younges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607400" y="4735552"/>
            <a:ext cx="6714349" cy="3129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76"/>
              </a:lnSpc>
            </a:pPr>
            <a:endParaRPr dirty="0"/>
          </a:p>
          <a:p>
            <a:pPr marL="767439" lvl="1" indent="-383719" algn="l">
              <a:lnSpc>
                <a:spcPts val="4976"/>
              </a:lnSpc>
              <a:buFont typeface="Arial"/>
              <a:buChar char="•"/>
            </a:pPr>
            <a:r>
              <a:rPr lang="en-US" sz="3554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Input String</a:t>
            </a:r>
          </a:p>
          <a:p>
            <a:pPr marL="767439" lvl="1" indent="-383719" algn="l">
              <a:lnSpc>
                <a:spcPts val="4976"/>
              </a:lnSpc>
              <a:buFont typeface="Arial"/>
              <a:buChar char="•"/>
            </a:pPr>
            <a:r>
              <a:rPr lang="en-US" sz="3554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Stack Operations</a:t>
            </a:r>
          </a:p>
          <a:p>
            <a:pPr marL="767439" lvl="1" indent="-383719" algn="l">
              <a:lnSpc>
                <a:spcPts val="4976"/>
              </a:lnSpc>
              <a:buFont typeface="Arial"/>
              <a:buChar char="•"/>
            </a:pPr>
            <a:r>
              <a:rPr lang="en-US" sz="3554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Parsing Steps</a:t>
            </a:r>
          </a:p>
          <a:p>
            <a:pPr marL="767439" lvl="1" indent="-383719" algn="l">
              <a:lnSpc>
                <a:spcPts val="4976"/>
              </a:lnSpc>
              <a:buFont typeface="Arial"/>
              <a:buChar char="•"/>
            </a:pPr>
            <a:r>
              <a:rPr lang="en-US" sz="3554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Accepted / Rejected</a:t>
            </a:r>
          </a:p>
        </p:txBody>
      </p:sp>
      <p:sp>
        <p:nvSpPr>
          <p:cNvPr id="5" name="Freeform 5"/>
          <p:cNvSpPr/>
          <p:nvPr/>
        </p:nvSpPr>
        <p:spPr>
          <a:xfrm>
            <a:off x="14086596" y="326676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394438" y="9584976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67843" y="8043534"/>
            <a:ext cx="521713" cy="52171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998443" y="2228046"/>
            <a:ext cx="521713" cy="52171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181030" y="4248368"/>
            <a:ext cx="4524569" cy="11449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Generated Output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endParaRPr lang="en-US" sz="3299" dirty="0">
              <a:solidFill>
                <a:srgbClr val="2828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944929" y="4248368"/>
            <a:ext cx="3019645" cy="5497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47"/>
              </a:lnSpc>
              <a:spcBef>
                <a:spcPct val="0"/>
              </a:spcBef>
            </a:pPr>
            <a:r>
              <a:rPr lang="en-US" sz="3319" b="1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Parsing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287F0F-398A-E72C-1578-365716972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01774DF-B554-7D10-ED17-B9B85B9332D3}"/>
              </a:ext>
            </a:extLst>
          </p:cNvPr>
          <p:cNvSpPr txBox="1"/>
          <p:nvPr/>
        </p:nvSpPr>
        <p:spPr>
          <a:xfrm>
            <a:off x="3200400" y="0"/>
            <a:ext cx="9885192" cy="1724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12"/>
              </a:lnSpc>
            </a:pPr>
            <a:r>
              <a:rPr lang="en-US" sz="10080" b="1" dirty="0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Result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10F3BCB-EBA1-FC57-5F73-865B3F59445E}"/>
              </a:ext>
            </a:extLst>
          </p:cNvPr>
          <p:cNvSpPr/>
          <p:nvPr/>
        </p:nvSpPr>
        <p:spPr>
          <a:xfrm>
            <a:off x="14086596" y="326676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EE06064-0C6F-0988-4CF3-E1438B29CE8F}"/>
              </a:ext>
            </a:extLst>
          </p:cNvPr>
          <p:cNvSpPr/>
          <p:nvPr/>
        </p:nvSpPr>
        <p:spPr>
          <a:xfrm>
            <a:off x="-1394438" y="9584976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984C6AEE-EDB3-A41C-4224-3C205A096249}"/>
              </a:ext>
            </a:extLst>
          </p:cNvPr>
          <p:cNvGrpSpPr/>
          <p:nvPr/>
        </p:nvGrpSpPr>
        <p:grpSpPr>
          <a:xfrm>
            <a:off x="767843" y="8043534"/>
            <a:ext cx="521713" cy="52171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0816D41-F478-4CA6-4223-E30FB0F370F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B4500641-B806-B364-AB91-F79C8AF976E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82063D0-3668-88CA-53EF-63B02C2A4867}"/>
              </a:ext>
            </a:extLst>
          </p:cNvPr>
          <p:cNvGrpSpPr/>
          <p:nvPr/>
        </p:nvGrpSpPr>
        <p:grpSpPr>
          <a:xfrm>
            <a:off x="16998443" y="2228046"/>
            <a:ext cx="521713" cy="521713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C6550C1-6132-48C9-D5E9-1E51F93BF76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41D81818-062B-FC32-31DC-67EA1C4A17A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D8C8F335-2279-C07B-3853-428126C34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" y="2019300"/>
            <a:ext cx="15316200" cy="741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686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177E0A-FC0F-1C61-1A2A-DFF41ECE4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D007BA0-153E-7AC8-90ED-9A6E4C37381B}"/>
              </a:ext>
            </a:extLst>
          </p:cNvPr>
          <p:cNvSpPr txBox="1"/>
          <p:nvPr/>
        </p:nvSpPr>
        <p:spPr>
          <a:xfrm>
            <a:off x="3200400" y="0"/>
            <a:ext cx="9885192" cy="1724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12"/>
              </a:lnSpc>
            </a:pPr>
            <a:r>
              <a:rPr lang="en-US" sz="10080" b="1" dirty="0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Result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7369EC9-6C1A-FF8E-1974-6EF486AE7713}"/>
              </a:ext>
            </a:extLst>
          </p:cNvPr>
          <p:cNvSpPr/>
          <p:nvPr/>
        </p:nvSpPr>
        <p:spPr>
          <a:xfrm>
            <a:off x="14086596" y="326676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6A45DA0-FA25-6AC1-93EB-911F1BFA60ED}"/>
              </a:ext>
            </a:extLst>
          </p:cNvPr>
          <p:cNvSpPr/>
          <p:nvPr/>
        </p:nvSpPr>
        <p:spPr>
          <a:xfrm>
            <a:off x="-1394438" y="9584976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2FE240A-7219-5351-2F19-55BE46539697}"/>
              </a:ext>
            </a:extLst>
          </p:cNvPr>
          <p:cNvGrpSpPr/>
          <p:nvPr/>
        </p:nvGrpSpPr>
        <p:grpSpPr>
          <a:xfrm>
            <a:off x="767843" y="8043534"/>
            <a:ext cx="521713" cy="52171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DFD0DA4-A75E-9404-C74B-31939B554E5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BBD7D7D3-B87F-8CCE-B989-73270F386B9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F8EA696-D6DC-5CDB-4355-5B1025F7C64D}"/>
              </a:ext>
            </a:extLst>
          </p:cNvPr>
          <p:cNvGrpSpPr/>
          <p:nvPr/>
        </p:nvGrpSpPr>
        <p:grpSpPr>
          <a:xfrm>
            <a:off x="16998443" y="2228046"/>
            <a:ext cx="521713" cy="521713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91DFB1D-F413-56C4-1973-4A0A8A20DA8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C6D3181-7D05-73F7-5D5D-2F27FCA7253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8AC9523-ACB1-49E9-3C95-D73D6F5F5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400300"/>
            <a:ext cx="10972799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102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0C2256-7EED-96C1-3373-837E9621D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6584AA2-463C-E6DA-0DBE-5E9CB8BC7EAD}"/>
              </a:ext>
            </a:extLst>
          </p:cNvPr>
          <p:cNvSpPr txBox="1"/>
          <p:nvPr/>
        </p:nvSpPr>
        <p:spPr>
          <a:xfrm>
            <a:off x="3200400" y="0"/>
            <a:ext cx="9885192" cy="1724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12"/>
              </a:lnSpc>
            </a:pPr>
            <a:r>
              <a:rPr lang="en-US" sz="10080" b="1" dirty="0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Result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932CC32-48FC-3668-9167-9CD62D2513B5}"/>
              </a:ext>
            </a:extLst>
          </p:cNvPr>
          <p:cNvSpPr/>
          <p:nvPr/>
        </p:nvSpPr>
        <p:spPr>
          <a:xfrm>
            <a:off x="14086596" y="326676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EF30E08-641F-1754-7F9E-752788B834EC}"/>
              </a:ext>
            </a:extLst>
          </p:cNvPr>
          <p:cNvSpPr/>
          <p:nvPr/>
        </p:nvSpPr>
        <p:spPr>
          <a:xfrm>
            <a:off x="-1394438" y="9584976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C705FF32-C394-6B3F-5EF8-163C7B47A72F}"/>
              </a:ext>
            </a:extLst>
          </p:cNvPr>
          <p:cNvGrpSpPr/>
          <p:nvPr/>
        </p:nvGrpSpPr>
        <p:grpSpPr>
          <a:xfrm>
            <a:off x="767843" y="8043534"/>
            <a:ext cx="521713" cy="52171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BA664E2-350A-B012-4619-5C8C21760E4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25A6F26-6DFD-27B9-D1E1-7E274158D1B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1F2624F-0658-8443-E519-51053A63E9D9}"/>
              </a:ext>
            </a:extLst>
          </p:cNvPr>
          <p:cNvGrpSpPr/>
          <p:nvPr/>
        </p:nvGrpSpPr>
        <p:grpSpPr>
          <a:xfrm>
            <a:off x="16998443" y="2228046"/>
            <a:ext cx="521713" cy="521713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10EEE31-ED99-7612-9335-177EE0A9064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D11D60E4-F487-BBFE-0C4B-F992CD41668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F799E596-B9A1-5050-E02E-847C53AC8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61" y="2598621"/>
            <a:ext cx="17352478" cy="594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236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9E7827-E82D-F2B4-FD3A-7E136F2FC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D81EC89-6FBB-8573-E9FB-FEC5C47EF01F}"/>
              </a:ext>
            </a:extLst>
          </p:cNvPr>
          <p:cNvSpPr txBox="1"/>
          <p:nvPr/>
        </p:nvSpPr>
        <p:spPr>
          <a:xfrm>
            <a:off x="3352800" y="104271"/>
            <a:ext cx="9885192" cy="1724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12"/>
              </a:lnSpc>
            </a:pPr>
            <a:r>
              <a:rPr lang="en-US" sz="10080" b="1" dirty="0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Result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B1E55A0-0C3F-C948-F878-E22EE88A3AA2}"/>
              </a:ext>
            </a:extLst>
          </p:cNvPr>
          <p:cNvSpPr/>
          <p:nvPr/>
        </p:nvSpPr>
        <p:spPr>
          <a:xfrm>
            <a:off x="14086596" y="326676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5398B50-2276-B0AC-B9B8-76CFDAA85CB9}"/>
              </a:ext>
            </a:extLst>
          </p:cNvPr>
          <p:cNvSpPr/>
          <p:nvPr/>
        </p:nvSpPr>
        <p:spPr>
          <a:xfrm>
            <a:off x="-1394438" y="9584976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C604A74-7A17-8C42-398F-0E9B372EF50D}"/>
              </a:ext>
            </a:extLst>
          </p:cNvPr>
          <p:cNvGrpSpPr/>
          <p:nvPr/>
        </p:nvGrpSpPr>
        <p:grpSpPr>
          <a:xfrm>
            <a:off x="767843" y="8043534"/>
            <a:ext cx="521713" cy="52171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5583CF6-F71F-8D7C-53CB-FD7443F177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921E38F-EEE9-F225-AD6D-2E345CAF47F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64C2D99-7AA9-48CA-D4F3-5CB14BFA6BC0}"/>
              </a:ext>
            </a:extLst>
          </p:cNvPr>
          <p:cNvGrpSpPr/>
          <p:nvPr/>
        </p:nvGrpSpPr>
        <p:grpSpPr>
          <a:xfrm>
            <a:off x="16998443" y="2228046"/>
            <a:ext cx="521713" cy="521713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A30E95B-13E2-886A-0079-C59D8FD3283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113A1BAF-665B-4F0F-A18D-08F6AC738A1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44BFAB9-CC97-E533-B28D-B3C396E8A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65" y="1980933"/>
            <a:ext cx="16448114" cy="738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519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81400" y="323851"/>
            <a:ext cx="9885192" cy="1724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12"/>
              </a:lnSpc>
            </a:pPr>
            <a:r>
              <a:rPr lang="en-US" sz="10080" b="1" dirty="0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Conclusion</a:t>
            </a:r>
          </a:p>
        </p:txBody>
      </p:sp>
      <p:sp>
        <p:nvSpPr>
          <p:cNvPr id="3" name="Freeform 3"/>
          <p:cNvSpPr/>
          <p:nvPr/>
        </p:nvSpPr>
        <p:spPr>
          <a:xfrm>
            <a:off x="15201900" y="82296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28700" y="-20574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19727" y="8303310"/>
            <a:ext cx="1289557" cy="128955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716311" y="807481"/>
            <a:ext cx="994800" cy="9948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19727" y="2476500"/>
            <a:ext cx="15922517" cy="1225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7"/>
              </a:lnSpc>
              <a:spcBef>
                <a:spcPct val="0"/>
              </a:spcBef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The Grammar to LL(1) Parser Generator automates the construction of an LL(1) predictive parser from a Context-Free Grammar.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4800" y="3950196"/>
            <a:ext cx="7393484" cy="493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7"/>
              </a:lnSpc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   The system performs: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Grammar transformation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Left recursion elimination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Left factoring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FIRST and FOLLOW computation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LL(1) parsing table generation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Conflict detection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Predictive parsing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85550" y="7854252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77708" y="1028700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287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2019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863504" y="3921041"/>
            <a:ext cx="12560992" cy="2197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2"/>
              </a:lnSpc>
            </a:pPr>
            <a:r>
              <a:rPr lang="en-US" sz="12808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Thank You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12371" y="6940043"/>
            <a:ext cx="521713" cy="52171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953915" y="2989837"/>
            <a:ext cx="521713" cy="52171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566</Words>
  <Application>Microsoft Office PowerPoint</Application>
  <PresentationFormat>Custom</PresentationFormat>
  <Paragraphs>113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Open Sans</vt:lpstr>
      <vt:lpstr>The Youngest</vt:lpstr>
      <vt:lpstr>Open Sans Bold</vt:lpstr>
      <vt:lpstr>Hahmlet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Modern Minimal Project Presentation</dc:title>
  <dc:creator>Jahnavi Raavi</dc:creator>
  <cp:lastModifiedBy>Sri Hansika Saraf</cp:lastModifiedBy>
  <cp:revision>5</cp:revision>
  <dcterms:created xsi:type="dcterms:W3CDTF">2006-08-16T00:00:00Z</dcterms:created>
  <dcterms:modified xsi:type="dcterms:W3CDTF">2026-10-28T08:58:39Z</dcterms:modified>
  <dc:identifier>DAHVRd1cqKg</dc:identifier>
</cp:coreProperties>
</file>